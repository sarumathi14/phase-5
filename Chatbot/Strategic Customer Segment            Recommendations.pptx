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B1BB8-67D2-42E4-976C-A7CC9D417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Customer Segment           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69F8D-1F7A-4254-9765-C2ECD0D4DD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Data-Driven Strategies to Maximize Customer Lifetime Value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263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CD0B1-7B74-4141-BA32-53E459DA7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Executive 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0A33E-1F34-4877-911D-AEB33A5B0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18"/>
            <a:ext cx="8596668" cy="4588482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4 distinct customer segments with varying LTV profiles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segment (15% of customers) drives 60% of total revenue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At-Risk segment shows high churn potential despite decent spending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to optimize acquisition and retention strategies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Highlights: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onboarding for High-Value customers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retention programs for At-Risk segment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Reactivation campaigns for Low-Value customers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nurturing for Medium-Value growth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43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11B1F-795A-461B-AEB6-079351DB0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Customer Segmentation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7F32F-4076-4D0B-AF5D-0E591DD35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054" y="2289838"/>
            <a:ext cx="8596668" cy="2881602"/>
          </a:xfrm>
        </p:spPr>
        <p:txBody>
          <a:bodyPr/>
          <a:lstStyle/>
          <a:p>
            <a:r>
              <a:rPr lang="en-IN" b="1" dirty="0"/>
              <a:t>Segmentation Methodology:</a:t>
            </a:r>
            <a:endParaRPr lang="en-IN" dirty="0"/>
          </a:p>
          <a:p>
            <a:r>
              <a:rPr lang="en-IN" b="1" dirty="0"/>
              <a:t>RFM Analysis:</a:t>
            </a:r>
            <a:r>
              <a:rPr lang="en-IN" dirty="0"/>
              <a:t> Recency, Frequency, Monetary value</a:t>
            </a:r>
          </a:p>
          <a:p>
            <a:r>
              <a:rPr lang="en-IN" b="1" dirty="0"/>
              <a:t>Behavioural Patterns:</a:t>
            </a:r>
            <a:r>
              <a:rPr lang="en-IN" dirty="0"/>
              <a:t> Engagement, product usage, support interactions</a:t>
            </a:r>
          </a:p>
          <a:p>
            <a:r>
              <a:rPr lang="en-IN" b="1" dirty="0"/>
              <a:t>LTV Clustering:</a:t>
            </a:r>
            <a:r>
              <a:rPr lang="en-IN" dirty="0"/>
              <a:t> K-means clustering based on lifetime value predictors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2268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00D6-774F-4118-8DB0-8FA5AE95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54864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 Segment 1 - High-Value Customers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32C35-694B-4602-B9FA-DDB6B6870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70560"/>
            <a:ext cx="8596668" cy="5370803"/>
          </a:xfrm>
        </p:spPr>
        <p:txBody>
          <a:bodyPr>
            <a:normAutofit fontScale="25000" lnSpcReduction="20000"/>
          </a:bodyPr>
          <a:lstStyle/>
          <a:p>
            <a:r>
              <a:rPr lang="en-US" sz="4800" b="1" dirty="0"/>
              <a:t>Profile Characteristics:</a:t>
            </a:r>
            <a:endParaRPr lang="en-US" sz="4800" dirty="0"/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LTV: $2,500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Value: $180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Frequency: 2.3x/month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 Rate: 92%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Industries: Enterprise, E-commerce, SaaS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Recommendations: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Onboarding Flow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account manager</a:t>
            </a:r>
          </a:p>
          <a:p>
            <a:pPr lvl="1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Customized implementation support</a:t>
            </a:r>
          </a:p>
          <a:p>
            <a:pPr lvl="1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technical assistance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Loyalty Program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Exclusive features early access</a:t>
            </a:r>
          </a:p>
          <a:p>
            <a:pPr lvl="1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VIP customer events</a:t>
            </a:r>
          </a:p>
          <a:p>
            <a:pPr lvl="1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business reviews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Cross-sell Strategy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Enterprise-grade add-ons</a:t>
            </a:r>
          </a:p>
          <a:p>
            <a:pPr lvl="1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partnerships</a:t>
            </a:r>
          </a:p>
          <a:p>
            <a:pPr lvl="1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development options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Rationale: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segment drives majority revenue with highest retention. Small improvements in satisfaction yield significant LTV gains.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1152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DA85-2E15-47AE-91AD-B89906EF2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High-Value Segment - Data Support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C87D8-3DED-494E-995B-EC9B3AA0F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Data: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45% higher referral rate than other segments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3.2x more likely to purchase premium features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68% reduction in churn with personalized onboarding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Projected LTV increase: 25% with enhanced service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 Bar chart comparing LTV across segments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 Line chart showing retention rates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009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CCEE-CEA7-41B7-B02F-590E768F8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"/>
            <a:ext cx="8596668" cy="53848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 Segment 2 - Medium-Value Customers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F998D-E677-423F-B0C8-30753BB84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38480"/>
            <a:ext cx="8596668" cy="6197599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Characteristics: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LTV: $650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Value: $85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Frequency: 1.2x/month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 Rate: 75%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Upsell Potential: High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Tiered Upsell Campaigns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Feature-based upgrade paths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Usage-triggered recommendations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milestone promotions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Nurturing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webinars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 content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access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Building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Points-based reward system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 badges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recognition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Strong growth potential with moderate investment. Focus on increasing frequency and average order value.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2142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842C5-E9E4-43FE-B5BD-736AF60B2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Medium-Value Segment - Data Support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260C4-7382-496B-8FD7-6935E25E4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Data: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35% respond to educational content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28% upgrade after reaching usage thresholds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2.1x higher conversion with personalized recommendations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Projected LTV increase: 40% with effective nurturing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 Funnel chart showing upgrade paths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 Heat map of feature adoption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0136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BA52F-5272-419A-93DD-746174D76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"/>
            <a:ext cx="8596668" cy="6096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Segment 3 - At-Risk Customers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2C8CC-A42C-4123-9A12-F21A9B1C7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538480"/>
            <a:ext cx="8596668" cy="631952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Characteristics: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LTV: $300 (declining)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Value: $60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Frequency: 0.8x/month (decreasing)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Risk: High (45% likely to churn in 60 days)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Interactions: High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Retention Program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Risk-based intervention triggers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retention team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Win-back offers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Usage Optimization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Re-engagement tutorials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discovery campaigns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milestone reminders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Feedback-Driven Improvements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interview process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point identification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gap analysis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High recovery potential with targeted interventions. Current service gaps identified as primary churn driver.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5353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B7FF2-F106-4834-806F-44A8953B8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At-Risk Segment - Data Support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1D04D-556A-4BC5-B238-5340DA511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Data: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62% of churn preventable with early intervention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55% response rate to personalized win-back offers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3.5x higher satisfaction with resolved support issues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Projected retention improvement: 30% with proactive program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 Churn risk timeline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 Intervention effectiveness chart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342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D374-F9E2-448A-82C4-21CC83E3B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65024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Segment 4 - Low-Value Customers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D2AD8-3676-411E-B1D7-7044CCDF5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50240"/>
            <a:ext cx="8596668" cy="6207759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Characteristics: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LTV: $120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Value: $35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Frequency: 0.4x/month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Engagement: 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Acquisition Cost: High relative to value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Reactivation Campaigns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Dormancy-triggered emails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Limited-time reactivation offers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update announcements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Cost-Optimized Service Model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Self-service resources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support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onboarding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Resource Allocation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convertible subsets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high-potential profiles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Graduated service levels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Optimize ROI by focusing resources on convertible customers while maintaining cost-effective service for others.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3794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38B3-51D9-4879-B008-23F85522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Low-Value Segment - Data Support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0FBAF-7D1E-4B34-920D-5DF6F7344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Data: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25% reactivation rate with targeted campaigns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 reduction in support costs with self-service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15% identified as "rising stars" with growth potential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Projected efficiency gain: 35% with optimized model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 Reactivation funnel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 Cost-to-serve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866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D405-2FBC-4FB3-88AB-00AF34E0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67056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 Implementation Roadmap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10608-F05E-490A-915A-4F9E787B7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92480"/>
            <a:ext cx="8596668" cy="607568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Quick Wins (0-3 months)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personalized onboarding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At-Risk intervention triggers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Low-Value reactivation campaigns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Core Initiatives (3-6 months)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Medium-Value nurture programs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program development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segmentation analytics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Strategic Expansion (6-12 months)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personalization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LTV modeling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Cross-segment optimization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022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DBC8B-9679-432B-975E-A9E69CC79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62992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 Expected Business Impact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62849-55A7-4F83-B4A7-173C9907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29921"/>
            <a:ext cx="8596668" cy="5323840"/>
          </a:xfrm>
        </p:spPr>
        <p:txBody>
          <a:bodyPr>
            <a:normAutofit/>
          </a:bodyPr>
          <a:lstStyle/>
          <a:p>
            <a:r>
              <a:rPr lang="en-IN" b="1" dirty="0"/>
              <a:t>Financial Projections:</a:t>
            </a:r>
            <a:endParaRPr lang="en-IN" dirty="0"/>
          </a:p>
          <a:p>
            <a:r>
              <a:rPr lang="en-IN" b="1" dirty="0"/>
              <a:t>Overall LTV Increase:</a:t>
            </a:r>
            <a:r>
              <a:rPr lang="en-IN" dirty="0"/>
              <a:t> 22%</a:t>
            </a:r>
          </a:p>
          <a:p>
            <a:r>
              <a:rPr lang="en-IN" b="1" dirty="0"/>
              <a:t>High-Value Segment:</a:t>
            </a:r>
            <a:r>
              <a:rPr lang="en-IN" dirty="0"/>
              <a:t> +25% LTV</a:t>
            </a:r>
          </a:p>
          <a:p>
            <a:r>
              <a:rPr lang="en-IN" b="1" dirty="0"/>
              <a:t>Medium-Value Segment:</a:t>
            </a:r>
            <a:r>
              <a:rPr lang="en-IN" dirty="0"/>
              <a:t> +40% LTV</a:t>
            </a:r>
          </a:p>
          <a:p>
            <a:r>
              <a:rPr lang="en-IN" b="1" dirty="0"/>
              <a:t>At-Risk Retention:</a:t>
            </a:r>
            <a:r>
              <a:rPr lang="en-IN" dirty="0"/>
              <a:t> +30%</a:t>
            </a:r>
          </a:p>
          <a:p>
            <a:r>
              <a:rPr lang="en-IN" b="1" dirty="0"/>
              <a:t>Low-Value Efficiency:</a:t>
            </a:r>
            <a:r>
              <a:rPr lang="en-IN" dirty="0"/>
              <a:t> +35%</a:t>
            </a:r>
          </a:p>
          <a:p>
            <a:r>
              <a:rPr lang="en-IN" b="1" dirty="0"/>
              <a:t>Non-Financial Benefits:</a:t>
            </a:r>
            <a:endParaRPr lang="en-IN" dirty="0"/>
          </a:p>
          <a:p>
            <a:r>
              <a:rPr lang="en-IN" dirty="0"/>
              <a:t>Improved customer satisfaction scores</a:t>
            </a:r>
          </a:p>
          <a:p>
            <a:r>
              <a:rPr lang="en-IN" dirty="0"/>
              <a:t>Enhanced product adoption rates</a:t>
            </a:r>
          </a:p>
          <a:p>
            <a:r>
              <a:rPr lang="en-IN" dirty="0"/>
              <a:t>Stronger competitive positioning</a:t>
            </a:r>
          </a:p>
          <a:p>
            <a:r>
              <a:rPr lang="en-IN" dirty="0"/>
              <a:t>Better resource allocation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405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ECE0-8378-46F4-8F37-CE6BDBED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Key Performance Indicators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866EA-03D7-4C5C-B837-62A93BA89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KPIs to Track: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Lifetime Value (LTV) by segment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Segment-specific retention rates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acquisition cost (CAC) to LTV ratio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distribution across segments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ROI by initiative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Framework: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segment performance reviews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Quarterly deep-dive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segmentation refresh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038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DD6B-8A09-48F4-958C-21B195778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Next Steps &amp; Recommendations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3053B-FF17-45B0-A684-D7C722BCD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2241"/>
            <a:ext cx="8596668" cy="4629122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Actions: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Phase 1 implementation budget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segment strategy owners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detailed project plans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baseline measurements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Strategy: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 predictive analytics capabilities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dynamic segmentation model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test-and-learn culture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cross-functional segment teams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Recommendation: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Implement the phased approach starting with High-Value and At-Risk segments for maximum near-term impact.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835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8ED35-F3A1-4D37-8C2D-6FEEE0F46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814" y="2672080"/>
            <a:ext cx="8596668" cy="13208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8843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179</TotalTime>
  <Words>952</Words>
  <Application>Microsoft Office PowerPoint</Application>
  <PresentationFormat>Widescreen</PresentationFormat>
  <Paragraphs>180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Times New Roman</vt:lpstr>
      <vt:lpstr>Trebuchet MS</vt:lpstr>
      <vt:lpstr>Wingdings 3</vt:lpstr>
      <vt:lpstr>Facet</vt:lpstr>
      <vt:lpstr>Strategic Customer Segment            Recommendations</vt:lpstr>
      <vt:lpstr> Executive Summary </vt:lpstr>
      <vt:lpstr>Customer Segmentation Overview </vt:lpstr>
      <vt:lpstr> Segment 1 - High-Value Customers  </vt:lpstr>
      <vt:lpstr>High-Value Segment - Data Support </vt:lpstr>
      <vt:lpstr> Segment 2 - Medium-Value Customers </vt:lpstr>
      <vt:lpstr>Medium-Value Segment - Data Support </vt:lpstr>
      <vt:lpstr>Segment 3 - At-Risk Customers </vt:lpstr>
      <vt:lpstr>At-Risk Segment - Data Support </vt:lpstr>
      <vt:lpstr>Segment 4 - Low-Value Customers </vt:lpstr>
      <vt:lpstr> Low-Value Segment - Data Support </vt:lpstr>
      <vt:lpstr> Implementation Roadmap </vt:lpstr>
      <vt:lpstr> Expected Business Impact </vt:lpstr>
      <vt:lpstr> Key Performance Indicators </vt:lpstr>
      <vt:lpstr> Next Steps &amp; Recommendations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Customer Segment            Recommendations</dc:title>
  <dc:creator>Sarumathi U</dc:creator>
  <cp:lastModifiedBy>Sarumathi U</cp:lastModifiedBy>
  <cp:revision>7</cp:revision>
  <dcterms:created xsi:type="dcterms:W3CDTF">2025-11-17T03:56:15Z</dcterms:created>
  <dcterms:modified xsi:type="dcterms:W3CDTF">2025-11-19T04:02:52Z</dcterms:modified>
</cp:coreProperties>
</file>