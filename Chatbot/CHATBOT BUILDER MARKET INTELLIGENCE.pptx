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5470-5A61-4B93-88FA-45984F0F0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pPr algn="l"/>
            <a:r>
              <a:rPr lang="en-US" dirty="0"/>
              <a:t>CHATBOT BUILDER MARKET INTELLIGENCE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310A9-7EAA-4510-ACD0-4043AC04E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FOR PRDUCT TEAM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96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B3BF-1546-489D-8D7E-A35A5DB7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Executive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8DA7-F53B-4733-8595-DBB62920D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  <a:p>
            <a:endParaRPr lang="en-IN" dirty="0"/>
          </a:p>
          <a:p>
            <a:r>
              <a:rPr lang="en-IN" dirty="0"/>
              <a:t>Market Landscape: 7 major competitors identified</a:t>
            </a:r>
          </a:p>
          <a:p>
            <a:r>
              <a:rPr lang="en-IN" dirty="0"/>
              <a:t>Price Range: $15-$2,500/month (wide dispersion)</a:t>
            </a:r>
          </a:p>
          <a:p>
            <a:r>
              <a:rPr lang="en-IN" dirty="0"/>
              <a:t>Opportunity: Gap in mid-price range ($20-40) with high usability</a:t>
            </a:r>
          </a:p>
          <a:p>
            <a:r>
              <a:rPr lang="en-IN" dirty="0"/>
              <a:t>Target Market: 1.2M e-commerce SMBs seeking affordable solutions</a:t>
            </a:r>
          </a:p>
        </p:txBody>
      </p:sp>
    </p:spTree>
    <p:extLst>
      <p:ext uri="{BB962C8B-B14F-4D97-AF65-F5344CB8AC3E}">
        <p14:creationId xmlns:p14="http://schemas.microsoft.com/office/powerpoint/2010/main" val="307090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139F-EAA7-4A18-95CE-432C948F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Competitive Landscape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B1F41-6167-42EA-92A2-D85D078FB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Chart: Market Positioning Matrix</a:t>
            </a:r>
            <a:endParaRPr lang="en-IN" dirty="0"/>
          </a:p>
          <a:p>
            <a:r>
              <a:rPr lang="en-IN" b="1" dirty="0"/>
              <a:t>X-axis</a:t>
            </a:r>
            <a:r>
              <a:rPr lang="en-IN" dirty="0"/>
              <a:t>: Monthly Price ($15-$2,500)</a:t>
            </a:r>
          </a:p>
          <a:p>
            <a:r>
              <a:rPr lang="en-IN" b="1" dirty="0"/>
              <a:t>Y-axis</a:t>
            </a:r>
            <a:r>
              <a:rPr lang="en-IN" dirty="0"/>
              <a:t>: Ease of Use Score (1-10)</a:t>
            </a:r>
          </a:p>
          <a:p>
            <a:r>
              <a:rPr lang="en-IN" b="1" dirty="0"/>
              <a:t>Key Insight</a:t>
            </a:r>
            <a:r>
              <a:rPr lang="en-IN" dirty="0"/>
              <a:t>: Clear gap between budget tools (</a:t>
            </a:r>
            <a:r>
              <a:rPr lang="en-IN" dirty="0" err="1"/>
              <a:t>ManyChat</a:t>
            </a:r>
            <a:r>
              <a:rPr lang="en-IN" dirty="0"/>
              <a:t>) and premium solutions (Intercom)</a:t>
            </a:r>
          </a:p>
          <a:p>
            <a:r>
              <a:rPr lang="en-IN" b="1" dirty="0"/>
              <a:t>Strategic Implications:</a:t>
            </a:r>
            <a:endParaRPr lang="en-IN" dirty="0"/>
          </a:p>
          <a:p>
            <a:r>
              <a:rPr lang="en-IN" dirty="0"/>
              <a:t>Opportunity to disrupt mid-market segment</a:t>
            </a:r>
          </a:p>
          <a:p>
            <a:r>
              <a:rPr lang="en-US" dirty="0"/>
              <a:t>Focus on usability as key differentiator</a:t>
            </a:r>
          </a:p>
          <a:p>
            <a:r>
              <a:rPr lang="en-US" dirty="0"/>
              <a:t>Avoid direct competition with enterprise solutions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21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760D4-20C0-4E26-8B84-ACE6CA0A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Market Sizing &amp; Opportunity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69A7-36BC-4BC4-9B21-C82B44F3E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Chart: TAM → SAM → SOM Funnel</a:t>
            </a:r>
            <a:endParaRPr lang="en-IN" dirty="0"/>
          </a:p>
          <a:p>
            <a:r>
              <a:rPr lang="en-IN" b="1" dirty="0"/>
              <a:t>TAM</a:t>
            </a:r>
            <a:r>
              <a:rPr lang="en-IN" dirty="0"/>
              <a:t>: 32.5M SMBs globally</a:t>
            </a:r>
          </a:p>
          <a:p>
            <a:r>
              <a:rPr lang="en-IN" b="1" dirty="0"/>
              <a:t>SAM</a:t>
            </a:r>
            <a:r>
              <a:rPr lang="en-IN" dirty="0"/>
              <a:t>: 1.2M e-commerce focused SMBs</a:t>
            </a:r>
          </a:p>
          <a:p>
            <a:r>
              <a:rPr lang="en-IN" b="1" dirty="0"/>
              <a:t>SOM</a:t>
            </a:r>
            <a:r>
              <a:rPr lang="en-IN" dirty="0"/>
              <a:t>: Target 96,000 customers by Year 3 (8% market share)</a:t>
            </a:r>
          </a:p>
          <a:p>
            <a:r>
              <a:rPr lang="en-IN" b="1" dirty="0"/>
              <a:t>Revenue Projection:</a:t>
            </a:r>
            <a:endParaRPr lang="en-IN" dirty="0"/>
          </a:p>
          <a:p>
            <a:r>
              <a:rPr lang="en-IN" dirty="0"/>
              <a:t>Year 1: $0.9M ARR</a:t>
            </a:r>
          </a:p>
          <a:p>
            <a:r>
              <a:rPr lang="en-US" dirty="0"/>
              <a:t>Year 2: $2.7M ARR</a:t>
            </a:r>
          </a:p>
          <a:p>
            <a:r>
              <a:rPr lang="en-US" dirty="0"/>
              <a:t>Year 3: $7.2M ARR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39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F880-EB87-4E05-B95C-DD0E73D2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C157-C0C1-4E07-BC78-5D105191F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POSITIONING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Price: $29/month (mid-market positioning)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USP: "Easiest chatbot builder for e-commerce"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Target: Shopify/WooCommerce store owners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GO-TO-MARKET STRATEGY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Phase 1: Freemium model to build user base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Phase 2: Focused e-commerce integrations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Phase 3: AI-powered features for premium tier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Time-to-first-bot: &lt;10 minutes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satisfaction score: &gt;8/10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E-commerce conversion rate: +15%</a:t>
            </a:r>
          </a:p>
        </p:txBody>
      </p:sp>
    </p:spTree>
    <p:extLst>
      <p:ext uri="{BB962C8B-B14F-4D97-AF65-F5344CB8AC3E}">
        <p14:creationId xmlns:p14="http://schemas.microsoft.com/office/powerpoint/2010/main" val="95079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A80C-F237-4D7C-8411-6272BA87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Next Steps &amp; Action Items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551AB-E778-4D3B-BACD-60C6EA591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ACTIONS (Next 30 Days)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Finalize product requirements based on gap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Begin UX/UI design focusing on ease-of-use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Start development of core chatbot builder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MILESTONES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Q1: MVP launch with basic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Q2: E-commerce integrations (Shopify)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Q3: AI features and mobile app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Q4: Scale marketing and sales efforts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71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4E54-E3BD-4B12-A362-68550CD7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90850"/>
            <a:ext cx="8596668" cy="1562099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579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340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CHATBOT BUILDER MARKET INTELLIGENCE</vt:lpstr>
      <vt:lpstr>Executive Summary </vt:lpstr>
      <vt:lpstr>Competitive Landscape Analysis </vt:lpstr>
      <vt:lpstr>Market Sizing &amp; Opportunity </vt:lpstr>
      <vt:lpstr>Strategic Recommendations</vt:lpstr>
      <vt:lpstr> Next Steps &amp; Action Items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BUILDER MARKET INTELLIGENCE</dc:title>
  <dc:creator>Sarumathi U</dc:creator>
  <cp:lastModifiedBy>Sarumathi U</cp:lastModifiedBy>
  <cp:revision>2</cp:revision>
  <dcterms:created xsi:type="dcterms:W3CDTF">2025-09-26T03:51:08Z</dcterms:created>
  <dcterms:modified xsi:type="dcterms:W3CDTF">2025-09-26T04:01:27Z</dcterms:modified>
</cp:coreProperties>
</file>